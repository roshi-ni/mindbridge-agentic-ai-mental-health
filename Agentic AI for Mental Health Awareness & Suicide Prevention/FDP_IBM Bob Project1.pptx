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1" r:id="rId9"/>
    <p:sldId id="262" r:id="rId10"/>
    <p:sldId id="295" r:id="rId11"/>
    <p:sldId id="290" r:id="rId12"/>
    <p:sldId id="292" r:id="rId13"/>
    <p:sldId id="293" r:id="rId14"/>
    <p:sldId id="286" r:id="rId15"/>
    <p:sldId id="287" r:id="rId16"/>
    <p:sldId id="280" r:id="rId17"/>
    <p:sldId id="288" r:id="rId18"/>
    <p:sldId id="289" r:id="rId19"/>
    <p:sldId id="276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155116-B7EF-4990-8659-A9D051FC124E}" v="11" dt="2026-10-17T15:55:11.74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ini Allada" userId="2290747847db83b2" providerId="LiveId" clId="{CE35DA62-E6FE-4AB5-898B-9406EA24FFD8}"/>
    <pc:docChg chg="modSld">
      <pc:chgData name="Roshini Allada" userId="2290747847db83b2" providerId="LiveId" clId="{CE35DA62-E6FE-4AB5-898B-9406EA24FFD8}" dt="2026-10-17T15:55:11.745" v="13"/>
      <pc:docMkLst>
        <pc:docMk/>
      </pc:docMkLst>
      <pc:sldChg chg="delSp">
        <pc:chgData name="Roshini Allada" userId="2290747847db83b2" providerId="LiveId" clId="{CE35DA62-E6FE-4AB5-898B-9406EA24FFD8}" dt="2026-10-17T11:00:45.410" v="0"/>
        <pc:sldMkLst>
          <pc:docMk/>
          <pc:sldMk cId="0" sldId="257"/>
        </pc:sldMkLst>
        <pc:spChg chg="del">
          <ac:chgData name="Roshini Allada" userId="2290747847db83b2" providerId="LiveId" clId="{CE35DA62-E6FE-4AB5-898B-9406EA24FFD8}" dt="2026-10-17T11:00:45.410" v="0"/>
          <ac:spMkLst>
            <pc:docMk/>
            <pc:sldMk cId="0" sldId="257"/>
            <ac:spMk id="3" creationId="{B0B023FA-CFEB-ACE9-8425-7E72E307CDC5}"/>
          </ac:spMkLst>
        </pc:spChg>
      </pc:sldChg>
      <pc:sldChg chg="addSp modSp">
        <pc:chgData name="Roshini Allada" userId="2290747847db83b2" providerId="LiveId" clId="{CE35DA62-E6FE-4AB5-898B-9406EA24FFD8}" dt="2026-10-17T11:07:30.760" v="5"/>
        <pc:sldMkLst>
          <pc:docMk/>
          <pc:sldMk cId="3764405840" sldId="278"/>
        </pc:sldMkLst>
        <pc:spChg chg="add">
          <ac:chgData name="Roshini Allada" userId="2290747847db83b2" providerId="LiveId" clId="{CE35DA62-E6FE-4AB5-898B-9406EA24FFD8}" dt="2026-10-17T11:06:19.870" v="4"/>
          <ac:spMkLst>
            <pc:docMk/>
            <pc:sldMk cId="3764405840" sldId="278"/>
            <ac:spMk id="6" creationId="{F9A05577-D57B-7AE4-F744-825695ABC34F}"/>
          </ac:spMkLst>
        </pc:spChg>
        <pc:spChg chg="add">
          <ac:chgData name="Roshini Allada" userId="2290747847db83b2" providerId="LiveId" clId="{CE35DA62-E6FE-4AB5-898B-9406EA24FFD8}" dt="2026-10-17T11:07:30.760" v="5"/>
          <ac:spMkLst>
            <pc:docMk/>
            <pc:sldMk cId="3764405840" sldId="278"/>
            <ac:spMk id="11" creationId="{CA1B5E24-4540-A6D4-9FC9-C09C7B42A85B}"/>
          </ac:spMkLst>
        </pc:spChg>
        <pc:graphicFrameChg chg="add mod">
          <ac:chgData name="Roshini Allada" userId="2290747847db83b2" providerId="LiveId" clId="{CE35DA62-E6FE-4AB5-898B-9406EA24FFD8}" dt="2026-10-17T11:06:19.870" v="4"/>
          <ac:graphicFrameMkLst>
            <pc:docMk/>
            <pc:sldMk cId="3764405840" sldId="278"/>
            <ac:graphicFrameMk id="4" creationId="{68C5FC6B-9E79-2946-5043-FDBDE3EBCA6F}"/>
          </ac:graphicFrameMkLst>
        </pc:graphicFrameChg>
        <pc:graphicFrameChg chg="add mod">
          <ac:chgData name="Roshini Allada" userId="2290747847db83b2" providerId="LiveId" clId="{CE35DA62-E6FE-4AB5-898B-9406EA24FFD8}" dt="2026-10-17T11:07:30.760" v="5"/>
          <ac:graphicFrameMkLst>
            <pc:docMk/>
            <pc:sldMk cId="3764405840" sldId="278"/>
            <ac:graphicFrameMk id="9" creationId="{01DE34BA-194C-0AB0-0062-3DB39DBD6727}"/>
          </ac:graphicFrameMkLst>
        </pc:graphicFrameChg>
      </pc:sldChg>
      <pc:sldChg chg="modSp">
        <pc:chgData name="Roshini Allada" userId="2290747847db83b2" providerId="LiveId" clId="{CE35DA62-E6FE-4AB5-898B-9406EA24FFD8}" dt="2026-10-17T15:13:28.192" v="12"/>
        <pc:sldMkLst>
          <pc:docMk/>
          <pc:sldMk cId="2136706720" sldId="280"/>
        </pc:sldMkLst>
        <pc:spChg chg="mod">
          <ac:chgData name="Roshini Allada" userId="2290747847db83b2" providerId="LiveId" clId="{CE35DA62-E6FE-4AB5-898B-9406EA24FFD8}" dt="2026-10-17T15:13:28.192" v="12"/>
          <ac:spMkLst>
            <pc:docMk/>
            <pc:sldMk cId="2136706720" sldId="280"/>
            <ac:spMk id="279" creationId="{EAFA16CB-0A72-5AC5-69A0-ABF4A752B43F}"/>
          </ac:spMkLst>
        </pc:spChg>
      </pc:sldChg>
      <pc:sldChg chg="addSp modSp">
        <pc:chgData name="Roshini Allada" userId="2290747847db83b2" providerId="LiveId" clId="{CE35DA62-E6FE-4AB5-898B-9406EA24FFD8}" dt="2026-10-17T11:09:35.843" v="6"/>
        <pc:sldMkLst>
          <pc:docMk/>
          <pc:sldMk cId="328526394" sldId="281"/>
        </pc:sldMkLst>
        <pc:spChg chg="add">
          <ac:chgData name="Roshini Allada" userId="2290747847db83b2" providerId="LiveId" clId="{CE35DA62-E6FE-4AB5-898B-9406EA24FFD8}" dt="2026-10-17T11:09:35.843" v="6"/>
          <ac:spMkLst>
            <pc:docMk/>
            <pc:sldMk cId="328526394" sldId="281"/>
            <ac:spMk id="6" creationId="{00E86064-7ACB-F630-6C70-EC7151CF0AD7}"/>
          </ac:spMkLst>
        </pc:spChg>
        <pc:graphicFrameChg chg="add mod">
          <ac:chgData name="Roshini Allada" userId="2290747847db83b2" providerId="LiveId" clId="{CE35DA62-E6FE-4AB5-898B-9406EA24FFD8}" dt="2026-10-17T11:09:35.843" v="6"/>
          <ac:graphicFrameMkLst>
            <pc:docMk/>
            <pc:sldMk cId="328526394" sldId="281"/>
            <ac:graphicFrameMk id="3" creationId="{5D29D8EA-A38B-92FE-AEBE-E9050D2A4E24}"/>
          </ac:graphicFrameMkLst>
        </pc:graphicFrameChg>
      </pc:sldChg>
      <pc:sldChg chg="modSp">
        <pc:chgData name="Roshini Allada" userId="2290747847db83b2" providerId="LiveId" clId="{CE35DA62-E6FE-4AB5-898B-9406EA24FFD8}" dt="2026-10-17T11:05:32.706" v="3"/>
        <pc:sldMkLst>
          <pc:docMk/>
          <pc:sldMk cId="2290294991" sldId="285"/>
        </pc:sldMkLst>
        <pc:spChg chg="mod">
          <ac:chgData name="Roshini Allada" userId="2290747847db83b2" providerId="LiveId" clId="{CE35DA62-E6FE-4AB5-898B-9406EA24FFD8}" dt="2026-10-17T11:05:32.706" v="3"/>
          <ac:spMkLst>
            <pc:docMk/>
            <pc:sldMk cId="2290294991" sldId="285"/>
            <ac:spMk id="2" creationId="{4A1BF701-ABCA-4DF0-8330-B6AF71EF8E39}"/>
          </ac:spMkLst>
        </pc:spChg>
      </pc:sldChg>
      <pc:sldChg chg="modSp">
        <pc:chgData name="Roshini Allada" userId="2290747847db83b2" providerId="LiveId" clId="{CE35DA62-E6FE-4AB5-898B-9406EA24FFD8}" dt="2026-10-17T11:28:49.347" v="10"/>
        <pc:sldMkLst>
          <pc:docMk/>
          <pc:sldMk cId="917964102" sldId="286"/>
        </pc:sldMkLst>
        <pc:spChg chg="mod">
          <ac:chgData name="Roshini Allada" userId="2290747847db83b2" providerId="LiveId" clId="{CE35DA62-E6FE-4AB5-898B-9406EA24FFD8}" dt="2026-10-17T11:28:49.347" v="10"/>
          <ac:spMkLst>
            <pc:docMk/>
            <pc:sldMk cId="917964102" sldId="286"/>
            <ac:spMk id="3" creationId="{ED65F54F-855A-0DB6-09A6-3212C5F7405B}"/>
          </ac:spMkLst>
        </pc:spChg>
      </pc:sldChg>
      <pc:sldChg chg="modSp">
        <pc:chgData name="Roshini Allada" userId="2290747847db83b2" providerId="LiveId" clId="{CE35DA62-E6FE-4AB5-898B-9406EA24FFD8}" dt="2026-10-17T15:55:11.745" v="13"/>
        <pc:sldMkLst>
          <pc:docMk/>
          <pc:sldMk cId="2605851928" sldId="287"/>
        </pc:sldMkLst>
        <pc:spChg chg="mod">
          <ac:chgData name="Roshini Allada" userId="2290747847db83b2" providerId="LiveId" clId="{CE35DA62-E6FE-4AB5-898B-9406EA24FFD8}" dt="2026-10-17T15:55:11.745" v="13"/>
          <ac:spMkLst>
            <pc:docMk/>
            <pc:sldMk cId="2605851928" sldId="287"/>
            <ac:spMk id="279" creationId="{3711AF54-94A6-B837-31EF-9A8C4ECB9AF6}"/>
          </ac:spMkLst>
        </pc:spChg>
      </pc:sldChg>
      <pc:sldChg chg="addSp modSp">
        <pc:chgData name="Roshini Allada" userId="2290747847db83b2" providerId="LiveId" clId="{CE35DA62-E6FE-4AB5-898B-9406EA24FFD8}" dt="2026-10-17T15:07:29.319" v="11"/>
        <pc:sldMkLst>
          <pc:docMk/>
          <pc:sldMk cId="1229047658" sldId="288"/>
        </pc:sldMkLst>
        <pc:graphicFrameChg chg="add mod">
          <ac:chgData name="Roshini Allada" userId="2290747847db83b2" providerId="LiveId" clId="{CE35DA62-E6FE-4AB5-898B-9406EA24FFD8}" dt="2026-10-17T15:07:29.319" v="11"/>
          <ac:graphicFrameMkLst>
            <pc:docMk/>
            <pc:sldMk cId="1229047658" sldId="288"/>
            <ac:graphicFrameMk id="2" creationId="{81342A4C-04B6-6BEE-EACB-9E28CE4C960B}"/>
          </ac:graphicFrameMkLst>
        </pc:graphicFrameChg>
      </pc:sldChg>
      <pc:sldChg chg="addSp">
        <pc:chgData name="Roshini Allada" userId="2290747847db83b2" providerId="LiveId" clId="{CE35DA62-E6FE-4AB5-898B-9406EA24FFD8}" dt="2026-10-17T11:15:21.337" v="7"/>
        <pc:sldMkLst>
          <pc:docMk/>
          <pc:sldMk cId="232371894" sldId="291"/>
        </pc:sldMkLst>
        <pc:picChg chg="add">
          <ac:chgData name="Roshini Allada" userId="2290747847db83b2" providerId="LiveId" clId="{CE35DA62-E6FE-4AB5-898B-9406EA24FFD8}" dt="2026-10-17T11:15:21.337" v="7"/>
          <ac:picMkLst>
            <pc:docMk/>
            <pc:sldMk cId="232371894" sldId="291"/>
            <ac:picMk id="8" creationId="{AE81F726-119C-82F2-AF6D-C655366ACE93}"/>
          </ac:picMkLst>
        </pc:picChg>
      </pc:sldChg>
      <pc:sldChg chg="addSp">
        <pc:chgData name="Roshini Allada" userId="2290747847db83b2" providerId="LiveId" clId="{CE35DA62-E6FE-4AB5-898B-9406EA24FFD8}" dt="2026-10-17T11:16:38.432" v="8"/>
        <pc:sldMkLst>
          <pc:docMk/>
          <pc:sldMk cId="3574357330" sldId="294"/>
        </pc:sldMkLst>
        <pc:picChg chg="add">
          <ac:chgData name="Roshini Allada" userId="2290747847db83b2" providerId="LiveId" clId="{CE35DA62-E6FE-4AB5-898B-9406EA24FFD8}" dt="2026-10-17T11:16:38.432" v="8"/>
          <ac:picMkLst>
            <pc:docMk/>
            <pc:sldMk cId="3574357330" sldId="294"/>
            <ac:picMk id="4" creationId="{DED7935D-A714-9D34-654E-86F5201105F6}"/>
          </ac:picMkLst>
        </pc:picChg>
      </pc:sldChg>
      <pc:sldChg chg="addSp">
        <pc:chgData name="Roshini Allada" userId="2290747847db83b2" providerId="LiveId" clId="{CE35DA62-E6FE-4AB5-898B-9406EA24FFD8}" dt="2026-10-17T11:18:36.743" v="9"/>
        <pc:sldMkLst>
          <pc:docMk/>
          <pc:sldMk cId="472521414" sldId="295"/>
        </pc:sldMkLst>
        <pc:picChg chg="add">
          <ac:chgData name="Roshini Allada" userId="2290747847db83b2" providerId="LiveId" clId="{CE35DA62-E6FE-4AB5-898B-9406EA24FFD8}" dt="2026-10-17T11:18:36.743" v="9"/>
          <ac:picMkLst>
            <pc:docMk/>
            <pc:sldMk cId="472521414" sldId="295"/>
            <ac:picMk id="5" creationId="{7C9B1104-3BF8-3988-AA43-36294D12BF2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963169680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Roshini devi Allada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roshiniallada21@gmail.com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8555976182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381870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Healthcare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4" y="558789"/>
            <a:ext cx="9581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Title – </a:t>
            </a:r>
            <a:r>
              <a:rPr lang="en-IN" sz="2400" b="1" dirty="0">
                <a:highlight>
                  <a:srgbClr val="FFFF00"/>
                </a:highlight>
              </a:rPr>
              <a:t>Mind Bridge(Agentic AI for Mental Health Awareness &amp; Suicide Prevention)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9D139-A812-FD5D-B28B-438F5688C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403" y="3683879"/>
            <a:ext cx="799791" cy="10288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dirty="0"/>
          </a:p>
          <a:p>
            <a:r>
              <a:rPr lang="en-IN" dirty="0"/>
              <a:t>Mental health has emerged as one of the most pressing yet neglected global health crises of our time. Millions of individuals worldwide silently battle depression, anxiety, post-traumatic stress, and suicidal ideation - conditions that are not only debilitating but life-threatening. Despite the scale of the epidemic, access to timely, affordable, and stigma-free mental health support remains deeply inadequate. Traditional care systems are inherently reactive: people must first recognise their own distress, overcome social stigma, navigate complex healthcare systems, and wait weeks for appointments - by which point a manageable crisis may have escalated into a tragedy. Early warning signals go undetected, coping strategies go unshared, and far too many individuals suffer in silence simply because no one was listening at the right moment. </a:t>
            </a:r>
          </a:p>
          <a:p>
            <a:endParaRPr lang="en-IN" dirty="0"/>
          </a:p>
          <a:p>
            <a:r>
              <a:rPr lang="en-IN" dirty="0"/>
              <a:t>The absence of intelligent, always-available support creates a dangerous gap between the onset of distress and the delivery of help. Existing digital tools are largely passive - static websites, hotline directories, or generic chatbots that lack the contextual awareness to detect escalating risk or respond with genuine empathy. What is urgently needed is a proactive, agentic AI system that can listen actively, identify distress signals before they reach a breaking point, provide evidence-based coping guidance grounded in a curated mental health knowledge base, and seamlessly connect individuals to human professionals when the situation demands it. By harnessing the power of IBM Granite's large language model, Retrieval-Augmented Generation, and real-time risk prediction - all delivered through a compassionate conversational interface -  </a:t>
            </a:r>
            <a:r>
              <a:rPr lang="en-IN" dirty="0" err="1"/>
              <a:t>MindBridge</a:t>
            </a:r>
            <a:r>
              <a:rPr lang="en-IN" dirty="0"/>
              <a:t> aims to bridge the critical gap between silent suffering and timely intervention, making mental health support accessible to anyone, anywhere, at any time.</a:t>
            </a:r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b="1" dirty="0"/>
              <a:t>Proposed Solution</a:t>
            </a:r>
          </a:p>
          <a:p>
            <a:pPr lvl="0"/>
            <a:r>
              <a:rPr lang="en-IN" b="1" dirty="0"/>
              <a:t>Agentic AI</a:t>
            </a:r>
            <a:r>
              <a:rPr lang="en-IN" dirty="0"/>
              <a:t> conversational companion powered by </a:t>
            </a:r>
            <a:r>
              <a:rPr lang="en-IN" b="1" dirty="0"/>
              <a:t>IBM Granite 13B Chat</a:t>
            </a:r>
            <a:r>
              <a:rPr lang="en-IN" dirty="0"/>
              <a:t> on </a:t>
            </a:r>
            <a:r>
              <a:rPr lang="en-IN" b="1" dirty="0"/>
              <a:t>IBM Watsonx.ai</a:t>
            </a:r>
            <a:endParaRPr lang="en-IN" dirty="0"/>
          </a:p>
          <a:p>
            <a:pPr lvl="0"/>
            <a:r>
              <a:rPr lang="en-IN" b="1" dirty="0"/>
              <a:t>RAG pipeline</a:t>
            </a:r>
            <a:r>
              <a:rPr lang="en-IN" dirty="0"/>
              <a:t> retrieves from a curated mental health knowledge base before every response</a:t>
            </a:r>
          </a:p>
          <a:p>
            <a:pPr lvl="0"/>
            <a:r>
              <a:rPr lang="en-IN" b="1" dirty="0"/>
              <a:t>Distress Detection Engine</a:t>
            </a:r>
            <a:r>
              <a:rPr lang="en-IN" dirty="0"/>
              <a:t> classifies messages across 6 risk categories into 5 severity tiers (NONE → CRITICAL)</a:t>
            </a:r>
          </a:p>
          <a:p>
            <a:pPr lvl="0"/>
            <a:r>
              <a:rPr lang="en-IN" b="1" dirty="0"/>
              <a:t>Proactive Risk Predictor</a:t>
            </a:r>
            <a:r>
              <a:rPr lang="en-IN" dirty="0"/>
              <a:t> tracks session trends and triggers check-in alerts before crises escalate</a:t>
            </a:r>
          </a:p>
          <a:p>
            <a:pPr lvl="0"/>
            <a:r>
              <a:rPr lang="en-IN" dirty="0"/>
              <a:t>Instantly surfaces </a:t>
            </a:r>
            <a:r>
              <a:rPr lang="en-IN" b="1" dirty="0"/>
              <a:t>verified crisis helplines</a:t>
            </a:r>
            <a:r>
              <a:rPr lang="en-IN" dirty="0"/>
              <a:t> (India + International) on high-risk detection</a:t>
            </a:r>
          </a:p>
          <a:p>
            <a:pPr lvl="0"/>
            <a:r>
              <a:rPr lang="en-IN" b="1" dirty="0"/>
              <a:t>Journal analysis</a:t>
            </a:r>
            <a:r>
              <a:rPr lang="en-IN" dirty="0"/>
              <a:t> detects emotional tone in free-writing entries</a:t>
            </a:r>
          </a:p>
          <a:p>
            <a:pPr lvl="0"/>
            <a:r>
              <a:rPr lang="en-IN" b="1" dirty="0"/>
              <a:t>4 immediate coping techniques</a:t>
            </a:r>
            <a:r>
              <a:rPr lang="en-IN" dirty="0"/>
              <a:t> — Box Breathing, Grounding, Affirmations, Distraction</a:t>
            </a:r>
          </a:p>
          <a:p>
            <a:pPr lvl="0"/>
            <a:r>
              <a:rPr lang="en-IN" b="1" dirty="0"/>
              <a:t>Stanley-Brown Safety Plan</a:t>
            </a:r>
            <a:r>
              <a:rPr lang="en-IN" dirty="0"/>
              <a:t> template for personalised crisis preparedness</a:t>
            </a:r>
          </a:p>
          <a:p>
            <a:pPr lvl="0"/>
            <a:r>
              <a:rPr lang="en-IN" b="1" dirty="0"/>
              <a:t>Mood timeline &amp; session insights</a:t>
            </a:r>
            <a:r>
              <a:rPr lang="en-IN" dirty="0"/>
              <a:t> visualised with interactive charts</a:t>
            </a:r>
          </a:p>
          <a:p>
            <a:pPr lvl="0"/>
            <a:r>
              <a:rPr lang="en-IN" dirty="0"/>
              <a:t>5-tab </a:t>
            </a:r>
            <a:r>
              <a:rPr lang="en-IN" dirty="0" err="1"/>
              <a:t>Streamlit</a:t>
            </a:r>
            <a:r>
              <a:rPr lang="en-IN" dirty="0"/>
              <a:t> UI — Chat, Journal, Resources, Insights, Crisis Help</a:t>
            </a:r>
          </a:p>
          <a:p>
            <a:pPr lvl="0"/>
            <a:r>
              <a:rPr lang="en-IN" dirty="0"/>
              <a:t>Every response carries a </a:t>
            </a:r>
            <a:r>
              <a:rPr lang="en-IN" b="1" dirty="0"/>
              <a:t>safe-messaging disclaimer</a:t>
            </a:r>
            <a:r>
              <a:rPr lang="en-IN" dirty="0"/>
              <a:t> — ethically designed from the ground 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1DE34BA-194C-0AB0-0062-3DB39DBD6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96483"/>
              </p:ext>
            </p:extLst>
          </p:nvPr>
        </p:nvGraphicFramePr>
        <p:xfrm>
          <a:off x="728563" y="1396846"/>
          <a:ext cx="10515600" cy="3444240"/>
        </p:xfrm>
        <a:graphic>
          <a:graphicData uri="http://schemas.openxmlformats.org/drawingml/2006/table">
            <a:tbl>
              <a:tblPr>
                <a:tableStyleId>{0AAD8F4D-43EB-41E5-8A38-28AB6DFB1B60}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835769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71855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2000" b="1" dirty="0">
                          <a:effectLst/>
                        </a:rPr>
                        <a:t>Layer</a:t>
                      </a:r>
                      <a:endParaRPr lang="en-IN" sz="2000" b="1" dirty="0">
                        <a:solidFill>
                          <a:srgbClr val="BFBFB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2000" b="1" dirty="0">
                          <a:effectLst/>
                        </a:rPr>
                        <a:t>Technology</a:t>
                      </a:r>
                      <a:endParaRPr lang="en-IN" sz="2000" b="1" dirty="0">
                        <a:solidFill>
                          <a:srgbClr val="BFBFB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566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LLM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dirty="0">
                          <a:effectLst/>
                        </a:rPr>
                        <a:t>IBM Granite 13B Chat (</a:t>
                      </a:r>
                      <a:r>
                        <a:rPr lang="en-IN" sz="825" dirty="0" err="1">
                          <a:effectLst/>
                        </a:rPr>
                        <a:t>ibm</a:t>
                      </a:r>
                      <a:r>
                        <a:rPr lang="en-IN" sz="825" dirty="0">
                          <a:effectLst/>
                        </a:rPr>
                        <a:t>/granite-13b-chat-v2</a:t>
                      </a:r>
                      <a:r>
                        <a:rPr lang="en-IN" dirty="0">
                          <a:effectLst/>
                        </a:rPr>
                        <a:t>)</a:t>
                      </a:r>
                      <a:endParaRPr lang="en-IN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7639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Cloud Platform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IBM Watsonx.ai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108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API Integration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IBM Watsonx REST API + IAM Token Auth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105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RAG / Vector Search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TF-IDF Vectorizer — scikit-learn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2823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Frontend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Streamlit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323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Charts &amp; Visualisation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Plotly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71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NLP &amp; ML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scikit-learn, NumPy, pandas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248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Language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Python 3.15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862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SMS Alerts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Twilio (optional)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93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>
                          <a:effectLst/>
                        </a:rPr>
                        <a:t>Config Management</a:t>
                      </a:r>
                      <a:endParaRPr lang="en-IN" b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dirty="0">
                          <a:effectLst/>
                        </a:rPr>
                        <a:t>python-</a:t>
                      </a:r>
                      <a:r>
                        <a:rPr lang="en-IN" dirty="0" err="1">
                          <a:effectLst/>
                        </a:rPr>
                        <a:t>dotenv</a:t>
                      </a:r>
                      <a:endParaRPr lang="en-IN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7091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29D8EA-A38B-92FE-AEBE-E9050D2A4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355719"/>
              </p:ext>
            </p:extLst>
          </p:nvPr>
        </p:nvGraphicFramePr>
        <p:xfrm>
          <a:off x="1166884" y="928048"/>
          <a:ext cx="9184943" cy="5027204"/>
        </p:xfrm>
        <a:graphic>
          <a:graphicData uri="http://schemas.openxmlformats.org/drawingml/2006/table">
            <a:tbl>
              <a:tblPr>
                <a:tableStyleId>{0AAD8F4D-43EB-41E5-8A38-28AB6DFB1B60}</a:tableStyleId>
              </a:tblPr>
              <a:tblGrid>
                <a:gridCol w="4571999">
                  <a:extLst>
                    <a:ext uri="{9D8B030D-6E8A-4147-A177-3AD203B41FA5}">
                      <a16:colId xmlns:a16="http://schemas.microsoft.com/office/drawing/2014/main" val="3989540978"/>
                    </a:ext>
                  </a:extLst>
                </a:gridCol>
                <a:gridCol w="4612944">
                  <a:extLst>
                    <a:ext uri="{9D8B030D-6E8A-4147-A177-3AD203B41FA5}">
                      <a16:colId xmlns:a16="http://schemas.microsoft.com/office/drawing/2014/main" val="4012984699"/>
                    </a:ext>
                  </a:extLst>
                </a:gridCol>
              </a:tblGrid>
              <a:tr h="21996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File</a:t>
                      </a:r>
                      <a:endParaRPr lang="en-IN" sz="1400" b="1" dirty="0">
                        <a:solidFill>
                          <a:srgbClr val="BFBFBF"/>
                        </a:solidFill>
                        <a:effectLst/>
                      </a:endParaRPr>
                    </a:p>
                  </a:txBody>
                  <a:tcPr marL="84766" marR="84766" marT="42383" marB="42383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Purpose</a:t>
                      </a:r>
                      <a:endParaRPr lang="en-IN" sz="1400" b="1" dirty="0">
                        <a:solidFill>
                          <a:srgbClr val="BFBFBF"/>
                        </a:solidFill>
                        <a:effectLst/>
                      </a:endParaRPr>
                    </a:p>
                  </a:txBody>
                  <a:tcPr marL="84766" marR="84766" marT="42383" marB="42383" anchor="ctr"/>
                </a:tc>
                <a:extLst>
                  <a:ext uri="{0D108BD9-81ED-4DB2-BD59-A6C34878D82A}">
                    <a16:rowId xmlns:a16="http://schemas.microsoft.com/office/drawing/2014/main" val="1583623606"/>
                  </a:ext>
                </a:extLst>
              </a:tr>
              <a:tr h="401191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app.py</a:t>
                      </a:r>
                      <a:endParaRPr lang="en-IN" sz="1400" b="0" dirty="0">
                        <a:effectLst/>
                      </a:endParaRPr>
                    </a:p>
                  </a:txBody>
                  <a:tcPr marL="84766" marR="84766" marT="42383" marB="42383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Main </a:t>
                      </a:r>
                      <a:r>
                        <a:rPr lang="en-IN" sz="1400" dirty="0" err="1">
                          <a:effectLst/>
                        </a:rPr>
                        <a:t>Streamlit</a:t>
                      </a:r>
                      <a:r>
                        <a:rPr lang="en-IN" sz="1400" dirty="0">
                          <a:effectLst/>
                        </a:rPr>
                        <a:t> UI — 5 tabs (Chat, Journal, Resources, Insights, Crisis Help)</a:t>
                      </a:r>
                      <a:endParaRPr lang="en-IN" sz="1400" b="0" dirty="0">
                        <a:effectLst/>
                      </a:endParaRPr>
                    </a:p>
                  </a:txBody>
                  <a:tcPr marL="84766" marR="84766" marT="42383" marB="42383" anchor="ctr"/>
                </a:tc>
                <a:extLst>
                  <a:ext uri="{0D108BD9-81ED-4DB2-BD59-A6C34878D82A}">
                    <a16:rowId xmlns:a16="http://schemas.microsoft.com/office/drawing/2014/main" val="3800634118"/>
                  </a:ext>
                </a:extLst>
              </a:tr>
              <a:tr h="37401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agent.py</a:t>
                      </a:r>
                      <a:endParaRPr lang="en-IN" sz="1400" b="0" dirty="0">
                        <a:effectLst/>
                      </a:endParaRPr>
                    </a:p>
                  </a:txBody>
                  <a:tcPr marL="84766" marR="84766" marT="42383" marB="42383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 err="1">
                          <a:effectLst/>
                        </a:rPr>
                        <a:t>MindBridgeAgent</a:t>
                      </a:r>
                      <a:r>
                        <a:rPr lang="en-IN" sz="1400" dirty="0">
                          <a:effectLst/>
                        </a:rPr>
                        <a:t> — session orchestrator, conversation history, mood tracking</a:t>
                      </a:r>
                      <a:endParaRPr lang="en-IN" sz="1400" b="0" dirty="0">
                        <a:effectLst/>
                      </a:endParaRPr>
                    </a:p>
                  </a:txBody>
                  <a:tcPr marL="84766" marR="84766" marT="42383" marB="42383" anchor="ctr"/>
                </a:tc>
                <a:extLst>
                  <a:ext uri="{0D108BD9-81ED-4DB2-BD59-A6C34878D82A}">
                    <a16:rowId xmlns:a16="http://schemas.microsoft.com/office/drawing/2014/main" val="2820047319"/>
                  </a:ext>
                </a:extLst>
              </a:tr>
              <a:tr h="28415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rag_pipeline.py</a:t>
                      </a:r>
                      <a:endParaRPr lang="en-IN" sz="1400" b="0">
                        <a:effectLst/>
                      </a:endParaRPr>
                    </a:p>
                  </a:txBody>
                  <a:tcPr marL="84766" marR="84766" marT="42383" marB="42383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TF-IDF vector store + IBM Granite RAG pipeline</a:t>
                      </a:r>
                      <a:endParaRPr lang="en-IN" sz="1400" b="0" dirty="0">
                        <a:effectLst/>
                      </a:endParaRPr>
                    </a:p>
                  </a:txBody>
                  <a:tcPr marL="84766" marR="84766" marT="42383" marB="42383" anchor="ctr"/>
                </a:tc>
                <a:extLst>
                  <a:ext uri="{0D108BD9-81ED-4DB2-BD59-A6C34878D82A}">
                    <a16:rowId xmlns:a16="http://schemas.microsoft.com/office/drawing/2014/main" val="89506022"/>
                  </a:ext>
                </a:extLst>
              </a:tr>
              <a:tr h="37401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watsonx_client.py</a:t>
                      </a:r>
                      <a:endParaRPr lang="en-IN" sz="1400" b="0">
                        <a:effectLst/>
                      </a:endParaRPr>
                    </a:p>
                  </a:txBody>
                  <a:tcPr marL="84766" marR="84766" marT="42383" marB="42383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IBM </a:t>
                      </a:r>
                      <a:r>
                        <a:rPr lang="en-IN" sz="1400" dirty="0" err="1">
                          <a:effectLst/>
                        </a:rPr>
                        <a:t>Watsonx</a:t>
                      </a:r>
                      <a:r>
                        <a:rPr lang="en-IN" sz="1400" dirty="0">
                          <a:effectLst/>
                        </a:rPr>
                        <a:t> REST client — IAM token auth + text generation</a:t>
                      </a:r>
                      <a:endParaRPr lang="en-IN" sz="1400" b="0" dirty="0">
                        <a:effectLst/>
                      </a:endParaRPr>
                    </a:p>
                  </a:txBody>
                  <a:tcPr marL="84766" marR="84766" marT="42383" marB="42383" anchor="ctr"/>
                </a:tc>
                <a:extLst>
                  <a:ext uri="{0D108BD9-81ED-4DB2-BD59-A6C34878D82A}">
                    <a16:rowId xmlns:a16="http://schemas.microsoft.com/office/drawing/2014/main" val="197899903"/>
                  </a:ext>
                </a:extLst>
              </a:tr>
              <a:tr h="37401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distress_detector.py</a:t>
                      </a:r>
                      <a:endParaRPr lang="en-IN" sz="1400" b="0">
                        <a:effectLst/>
                      </a:endParaRPr>
                    </a:p>
                  </a:txBody>
                  <a:tcPr marL="84766" marR="84766" marT="42383" marB="42383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Risk scoring engine — 6 categories, 5 tiers, rolling predictor</a:t>
                      </a:r>
                      <a:endParaRPr lang="en-IN" sz="1400" b="0" dirty="0">
                        <a:effectLst/>
                      </a:endParaRPr>
                    </a:p>
                  </a:txBody>
                  <a:tcPr marL="84766" marR="84766" marT="42383" marB="42383" anchor="ctr"/>
                </a:tc>
                <a:extLst>
                  <a:ext uri="{0D108BD9-81ED-4DB2-BD59-A6C34878D82A}">
                    <a16:rowId xmlns:a16="http://schemas.microsoft.com/office/drawing/2014/main" val="752959697"/>
                  </a:ext>
                </a:extLst>
              </a:tr>
              <a:tr h="28415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crisis_manager.py</a:t>
                      </a:r>
                      <a:endParaRPr lang="en-IN" sz="1400" b="0">
                        <a:effectLst/>
                      </a:endParaRPr>
                    </a:p>
                  </a:txBody>
                  <a:tcPr marL="84766" marR="84766" marT="42383" marB="42383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Crisis helplines, coping cards, safety plan, SMS alerts</a:t>
                      </a:r>
                      <a:endParaRPr lang="en-IN" sz="1400" b="0">
                        <a:effectLst/>
                      </a:endParaRPr>
                    </a:p>
                  </a:txBody>
                  <a:tcPr marL="84766" marR="84766" marT="42383" marB="42383" anchor="ctr"/>
                </a:tc>
                <a:extLst>
                  <a:ext uri="{0D108BD9-81ED-4DB2-BD59-A6C34878D82A}">
                    <a16:rowId xmlns:a16="http://schemas.microsoft.com/office/drawing/2014/main" val="69901418"/>
                  </a:ext>
                </a:extLst>
              </a:tr>
              <a:tr h="28415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knowledge_base.py</a:t>
                      </a:r>
                      <a:endParaRPr lang="en-IN" sz="1400" b="0">
                        <a:effectLst/>
                      </a:endParaRPr>
                    </a:p>
                  </a:txBody>
                  <a:tcPr marL="84766" marR="84766" marT="42383" marB="42383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22 curated mental health articles across 8 categories</a:t>
                      </a:r>
                      <a:endParaRPr lang="en-IN" sz="1400" b="0">
                        <a:effectLst/>
                      </a:endParaRPr>
                    </a:p>
                  </a:txBody>
                  <a:tcPr marL="84766" marR="84766" marT="42383" marB="42383" anchor="ctr"/>
                </a:tc>
                <a:extLst>
                  <a:ext uri="{0D108BD9-81ED-4DB2-BD59-A6C34878D82A}">
                    <a16:rowId xmlns:a16="http://schemas.microsoft.com/office/drawing/2014/main" val="4123032079"/>
                  </a:ext>
                </a:extLst>
              </a:tr>
              <a:tr h="28415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config.py</a:t>
                      </a:r>
                      <a:endParaRPr lang="en-IN" sz="1400" b="0">
                        <a:effectLst/>
                      </a:endParaRPr>
                    </a:p>
                  </a:txBody>
                  <a:tcPr marL="84766" marR="84766" marT="42383" marB="42383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Centralised credentials, thresholds, helplines, keywords</a:t>
                      </a:r>
                      <a:endParaRPr lang="en-IN" sz="1400" b="0">
                        <a:effectLst/>
                      </a:endParaRPr>
                    </a:p>
                  </a:txBody>
                  <a:tcPr marL="84766" marR="84766" marT="42383" marB="42383" anchor="ctr"/>
                </a:tc>
                <a:extLst>
                  <a:ext uri="{0D108BD9-81ED-4DB2-BD59-A6C34878D82A}">
                    <a16:rowId xmlns:a16="http://schemas.microsoft.com/office/drawing/2014/main" val="2361344205"/>
                  </a:ext>
                </a:extLst>
              </a:tr>
              <a:tr h="28415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validate.py</a:t>
                      </a:r>
                      <a:endParaRPr lang="en-IN" sz="1400" b="0">
                        <a:effectLst/>
                      </a:endParaRPr>
                    </a:p>
                  </a:txBody>
                  <a:tcPr marL="84766" marR="84766" marT="42383" marB="42383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Component validation suite — 7/7 tests passing </a:t>
                      </a:r>
                      <a:endParaRPr lang="en-IN" sz="1400" b="0" dirty="0">
                        <a:effectLst/>
                      </a:endParaRPr>
                    </a:p>
                  </a:txBody>
                  <a:tcPr marL="84766" marR="84766" marT="42383" marB="42383" anchor="ctr"/>
                </a:tc>
                <a:extLst>
                  <a:ext uri="{0D108BD9-81ED-4DB2-BD59-A6C34878D82A}">
                    <a16:rowId xmlns:a16="http://schemas.microsoft.com/office/drawing/2014/main" val="197289550"/>
                  </a:ext>
                </a:extLst>
              </a:tr>
              <a:tr h="21996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requirements.txt</a:t>
                      </a:r>
                      <a:endParaRPr lang="en-IN" sz="1400" b="0">
                        <a:effectLst/>
                      </a:endParaRPr>
                    </a:p>
                  </a:txBody>
                  <a:tcPr marL="84766" marR="84766" marT="42383" marB="42383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Python dependencies</a:t>
                      </a:r>
                      <a:endParaRPr lang="en-IN" sz="1400" b="0">
                        <a:effectLst/>
                      </a:endParaRPr>
                    </a:p>
                  </a:txBody>
                  <a:tcPr marL="84766" marR="84766" marT="42383" marB="42383" anchor="ctr"/>
                </a:tc>
                <a:extLst>
                  <a:ext uri="{0D108BD9-81ED-4DB2-BD59-A6C34878D82A}">
                    <a16:rowId xmlns:a16="http://schemas.microsoft.com/office/drawing/2014/main" val="1896530581"/>
                  </a:ext>
                </a:extLst>
              </a:tr>
              <a:tr h="21996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.streamlit/config.toml</a:t>
                      </a:r>
                      <a:endParaRPr lang="en-IN" sz="1400" b="0">
                        <a:effectLst/>
                      </a:endParaRPr>
                    </a:p>
                  </a:txBody>
                  <a:tcPr marL="84766" marR="84766" marT="42383" marB="42383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 err="1">
                          <a:effectLst/>
                        </a:rPr>
                        <a:t>Streamlit</a:t>
                      </a:r>
                      <a:r>
                        <a:rPr lang="en-IN" sz="1400" dirty="0">
                          <a:effectLst/>
                        </a:rPr>
                        <a:t> server config — port 8502</a:t>
                      </a:r>
                      <a:endParaRPr lang="en-IN" sz="1400" b="0" dirty="0">
                        <a:effectLst/>
                      </a:endParaRPr>
                    </a:p>
                  </a:txBody>
                  <a:tcPr marL="84766" marR="84766" marT="42383" marB="42383" anchor="ctr"/>
                </a:tc>
                <a:extLst>
                  <a:ext uri="{0D108BD9-81ED-4DB2-BD59-A6C34878D82A}">
                    <a16:rowId xmlns:a16="http://schemas.microsoft.com/office/drawing/2014/main" val="1715219878"/>
                  </a:ext>
                </a:extLst>
              </a:tr>
              <a:tr h="21996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.env.example</a:t>
                      </a:r>
                      <a:endParaRPr lang="en-IN" sz="1400" b="0">
                        <a:effectLst/>
                      </a:endParaRPr>
                    </a:p>
                  </a:txBody>
                  <a:tcPr marL="84766" marR="84766" marT="42383" marB="42383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Environment variable template</a:t>
                      </a:r>
                      <a:endParaRPr lang="en-IN" sz="1400" b="0" dirty="0">
                        <a:effectLst/>
                      </a:endParaRPr>
                    </a:p>
                  </a:txBody>
                  <a:tcPr marL="84766" marR="84766" marT="42383" marB="42383" anchor="ctr"/>
                </a:tc>
                <a:extLst>
                  <a:ext uri="{0D108BD9-81ED-4DB2-BD59-A6C34878D82A}">
                    <a16:rowId xmlns:a16="http://schemas.microsoft.com/office/drawing/2014/main" val="1104324635"/>
                  </a:ext>
                </a:extLst>
              </a:tr>
              <a:tr h="284153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README.md</a:t>
                      </a:r>
                      <a:endParaRPr lang="en-IN" sz="1400" b="0" dirty="0">
                        <a:effectLst/>
                      </a:endParaRPr>
                    </a:p>
                  </a:txBody>
                  <a:tcPr marL="84766" marR="84766" marT="42383" marB="42383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Full project documentation &amp; architecture diagram</a:t>
                      </a:r>
                      <a:endParaRPr lang="en-IN" sz="1400" b="0" dirty="0">
                        <a:effectLst/>
                      </a:endParaRPr>
                    </a:p>
                  </a:txBody>
                  <a:tcPr marL="84766" marR="84766" marT="42383" marB="42383" anchor="ctr"/>
                </a:tc>
                <a:extLst>
                  <a:ext uri="{0D108BD9-81ED-4DB2-BD59-A6C34878D82A}">
                    <a16:rowId xmlns:a16="http://schemas.microsoft.com/office/drawing/2014/main" val="2689601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1B5800-BB58-5021-B061-AAF0713B7E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68"/>
          <a:stretch>
            <a:fillRect/>
          </a:stretch>
        </p:blipFill>
        <p:spPr>
          <a:xfrm>
            <a:off x="1385248" y="618697"/>
            <a:ext cx="9421504" cy="551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5E36EA-C403-12B6-31B2-A90E47318746}"/>
              </a:ext>
            </a:extLst>
          </p:cNvPr>
          <p:cNvSpPr txBox="1"/>
          <p:nvPr/>
        </p:nvSpPr>
        <p:spPr>
          <a:xfrm>
            <a:off x="407727" y="400377"/>
            <a:ext cx="6097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81F726-119C-82F2-AF6D-C655366AC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159"/>
          <a:stretch>
            <a:fillRect/>
          </a:stretch>
        </p:blipFill>
        <p:spPr>
          <a:xfrm>
            <a:off x="1203277" y="962167"/>
            <a:ext cx="9605749" cy="563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845BF-CADE-4C5C-75CB-5017DBF54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18" y="996286"/>
            <a:ext cx="10597486" cy="5538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9B1104-3BF8-3988-AA43-36294D12BF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707"/>
          <a:stretch>
            <a:fillRect/>
          </a:stretch>
        </p:blipFill>
        <p:spPr>
          <a:xfrm>
            <a:off x="780197" y="1030406"/>
            <a:ext cx="10972800" cy="55751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0CDFD3-49D0-2DF4-2A23-52F1BD993A01}"/>
              </a:ext>
            </a:extLst>
          </p:cNvPr>
          <p:cNvSpPr txBox="1"/>
          <p:nvPr/>
        </p:nvSpPr>
        <p:spPr>
          <a:xfrm>
            <a:off x="680683" y="338962"/>
            <a:ext cx="6097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ym typeface="Times New Roman"/>
              </a:rPr>
              <a:t>Project Output Screenshot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2521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</a:t>
            </a:r>
            <a:r>
              <a:rPr lang="en-US" sz="2400" b="1" dirty="0" err="1">
                <a:sym typeface="Times New Roman"/>
              </a:rPr>
              <a:t>Screeshot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22589-4A2E-949C-0845-C2D7750E0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27"/>
          <a:stretch>
            <a:fillRect/>
          </a:stretch>
        </p:blipFill>
        <p:spPr>
          <a:xfrm>
            <a:off x="783610" y="914400"/>
            <a:ext cx="10624780" cy="555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B9F89C-B9AF-9ECF-B7EB-88E03EF375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71"/>
          <a:stretch>
            <a:fillRect/>
          </a:stretch>
        </p:blipFill>
        <p:spPr>
          <a:xfrm>
            <a:off x="975815" y="816977"/>
            <a:ext cx="10583839" cy="586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C71B9-1898-D8B9-CB83-9A83D09F77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71"/>
          <a:stretch>
            <a:fillRect/>
          </a:stretch>
        </p:blipFill>
        <p:spPr>
          <a:xfrm>
            <a:off x="859809" y="704017"/>
            <a:ext cx="10501952" cy="604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098030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Agentic — Not Just a Chatbot </a:t>
            </a:r>
            <a:r>
              <a:rPr lang="en-IN" dirty="0"/>
              <a:t>Most mental health apps are </a:t>
            </a:r>
            <a:r>
              <a:rPr lang="en-IN" b="1" dirty="0"/>
              <a:t>passive</a:t>
            </a:r>
            <a:r>
              <a:rPr lang="en-IN" dirty="0"/>
              <a:t> — they wait to be asked </a:t>
            </a:r>
            <a:r>
              <a:rPr lang="en-IN" dirty="0" err="1"/>
              <a:t>MindBridge</a:t>
            </a:r>
            <a:r>
              <a:rPr lang="en-IN" dirty="0"/>
              <a:t> </a:t>
            </a:r>
            <a:r>
              <a:rPr lang="en-IN" b="1" dirty="0"/>
              <a:t>proactively detects</a:t>
            </a:r>
            <a:r>
              <a:rPr lang="en-IN" dirty="0"/>
              <a:t> escalating risk across the session and intervenes </a:t>
            </a:r>
            <a:r>
              <a:rPr lang="en-IN" b="1" dirty="0"/>
              <a:t>before</a:t>
            </a:r>
            <a:r>
              <a:rPr lang="en-IN" dirty="0"/>
              <a:t> a crisis peaks A dedicated </a:t>
            </a:r>
            <a:r>
              <a:rPr lang="en-IN" b="1" dirty="0"/>
              <a:t>Risk Predictor</a:t>
            </a:r>
            <a:r>
              <a:rPr lang="en-IN" dirty="0"/>
              <a:t> tracks rolling trends and sends check-in alerts autonomously</a:t>
            </a:r>
          </a:p>
          <a:p>
            <a:r>
              <a:rPr lang="en-IN" b="1" dirty="0"/>
              <a:t>RAG-Powered Empathy - </a:t>
            </a:r>
            <a:r>
              <a:rPr lang="en-IN" dirty="0"/>
              <a:t>Unlike generic LLMs, every response is </a:t>
            </a:r>
            <a:r>
              <a:rPr lang="en-IN" b="1" dirty="0"/>
              <a:t>grounded in a curated mental health knowledge base</a:t>
            </a:r>
            <a:endParaRPr lang="en-IN" dirty="0"/>
          </a:p>
          <a:p>
            <a:pPr lvl="0"/>
            <a:r>
              <a:rPr lang="en-IN" dirty="0"/>
              <a:t>Retrieves the most relevant clinical content </a:t>
            </a:r>
            <a:r>
              <a:rPr lang="en-IN" b="1" dirty="0"/>
              <a:t>before</a:t>
            </a:r>
            <a:r>
              <a:rPr lang="en-IN" dirty="0"/>
              <a:t> generating — reducing hallucinations Responses are </a:t>
            </a:r>
            <a:r>
              <a:rPr lang="en-IN" b="1" dirty="0"/>
              <a:t>evidence-based</a:t>
            </a:r>
            <a:r>
              <a:rPr lang="en-IN" dirty="0"/>
              <a:t>, not just statistically probable words</a:t>
            </a:r>
          </a:p>
          <a:p>
            <a:r>
              <a:rPr lang="en-IN" b="1" dirty="0"/>
              <a:t>5-Tier Real-Time Risk Engine </a:t>
            </a:r>
            <a:r>
              <a:rPr lang="en-IN" dirty="0"/>
              <a:t>Goes beyond simple keyword flagging — assigns a </a:t>
            </a:r>
            <a:r>
              <a:rPr lang="en-IN" b="1" dirty="0"/>
              <a:t>continuous risk score (0.0 – 1.0)</a:t>
            </a:r>
            <a:endParaRPr lang="en-IN" dirty="0"/>
          </a:p>
          <a:p>
            <a:pPr lvl="0"/>
            <a:r>
              <a:rPr lang="en-IN" dirty="0"/>
              <a:t>Detects </a:t>
            </a:r>
            <a:r>
              <a:rPr lang="en-IN" b="1" dirty="0"/>
              <a:t>6 distress categories</a:t>
            </a:r>
            <a:r>
              <a:rPr lang="en-IN" dirty="0"/>
              <a:t> simultaneously: suicidal ideation, self-harm, severe depression, crisis signals, moderate &amp; mild distress</a:t>
            </a:r>
          </a:p>
          <a:p>
            <a:pPr lvl="0"/>
            <a:r>
              <a:rPr lang="en-IN" dirty="0"/>
              <a:t>Risk level </a:t>
            </a:r>
            <a:r>
              <a:rPr lang="en-IN" b="1" dirty="0"/>
              <a:t>shapes the entire response</a:t>
            </a:r>
            <a:r>
              <a:rPr lang="en-IN" dirty="0"/>
              <a:t> — tone, content, resources, and urgency all adapt dynamically</a:t>
            </a:r>
          </a:p>
          <a:p>
            <a:r>
              <a:rPr lang="en-IN" b="1" dirty="0"/>
              <a:t>Journal as a Detection Surface -</a:t>
            </a:r>
            <a:r>
              <a:rPr lang="en-IN" dirty="0"/>
              <a:t>Most tools only analyse chat — </a:t>
            </a:r>
            <a:r>
              <a:rPr lang="en-IN" dirty="0" err="1"/>
              <a:t>MindBridge</a:t>
            </a:r>
            <a:r>
              <a:rPr lang="en-IN" dirty="0"/>
              <a:t> also analyses </a:t>
            </a:r>
            <a:r>
              <a:rPr lang="en-IN" b="1" dirty="0"/>
              <a:t>free-form journal entries</a:t>
            </a:r>
            <a:r>
              <a:rPr lang="en-IN" dirty="0"/>
              <a:t> for emotional tone</a:t>
            </a:r>
          </a:p>
          <a:p>
            <a:pPr lvl="0"/>
            <a:r>
              <a:rPr lang="en-IN" dirty="0"/>
              <a:t>Gives users a </a:t>
            </a:r>
            <a:r>
              <a:rPr lang="en-IN" b="1" dirty="0"/>
              <a:t>private, pressure-free</a:t>
            </a:r>
            <a:r>
              <a:rPr lang="en-IN" dirty="0"/>
              <a:t> way to express distress that may be too hard to say aloud</a:t>
            </a:r>
          </a:p>
          <a:p>
            <a:r>
              <a:rPr lang="en-IN" b="1" dirty="0"/>
              <a:t>Context-Aware Across the Full Session - </a:t>
            </a:r>
            <a:r>
              <a:rPr lang="en-IN" dirty="0"/>
              <a:t>Maintains </a:t>
            </a:r>
            <a:r>
              <a:rPr lang="en-IN" b="1" dirty="0"/>
              <a:t>full conversation history</a:t>
            </a:r>
            <a:r>
              <a:rPr lang="en-IN" dirty="0"/>
              <a:t> — risk isn't judged on one message in isolation</a:t>
            </a:r>
          </a:p>
          <a:p>
            <a:pPr lvl="0"/>
            <a:r>
              <a:rPr lang="en-IN" dirty="0"/>
              <a:t>Escalation detection is </a:t>
            </a:r>
            <a:r>
              <a:rPr lang="en-IN" b="1" dirty="0"/>
              <a:t>temporal</a:t>
            </a:r>
            <a:r>
              <a:rPr lang="en-IN" dirty="0"/>
              <a:t> — a pattern across messages triggers stronger intervention than a single word</a:t>
            </a:r>
          </a:p>
          <a:p>
            <a:r>
              <a:rPr lang="en-IN" b="1" dirty="0"/>
              <a:t>Python 3.15 Compatible via REST- </a:t>
            </a:r>
            <a:r>
              <a:rPr lang="en-IN" dirty="0"/>
              <a:t>Instead of being locked to older Python by the IBM SDK, </a:t>
            </a:r>
            <a:r>
              <a:rPr lang="en-IN" dirty="0" err="1"/>
              <a:t>MindBridge</a:t>
            </a:r>
            <a:r>
              <a:rPr lang="en-IN" dirty="0"/>
              <a:t> uses a </a:t>
            </a:r>
            <a:r>
              <a:rPr lang="en-IN" b="1" dirty="0"/>
              <a:t>custom </a:t>
            </a:r>
            <a:r>
              <a:rPr lang="en-IN" b="1" dirty="0" err="1"/>
              <a:t>Watsonx</a:t>
            </a:r>
            <a:r>
              <a:rPr lang="en-IN" b="1" dirty="0"/>
              <a:t> REST client </a:t>
            </a:r>
            <a:r>
              <a:rPr lang="en-IN" dirty="0"/>
              <a:t>Makes the solution </a:t>
            </a:r>
            <a:r>
              <a:rPr lang="en-IN" b="1" dirty="0"/>
              <a:t>future-proof</a:t>
            </a:r>
            <a:r>
              <a:rPr lang="en-IN" dirty="0"/>
              <a:t> and deployable on the latest environments without version conflicts</a:t>
            </a:r>
          </a:p>
          <a:p>
            <a:r>
              <a:rPr lang="en-IN" b="1" dirty="0"/>
              <a:t>Ethics Baked In by Design - Safe messaging guidelines</a:t>
            </a:r>
            <a:r>
              <a:rPr lang="en-IN" dirty="0"/>
              <a:t> followed throughout — no method disclosure, ever</a:t>
            </a:r>
          </a:p>
          <a:p>
            <a:pPr lvl="0"/>
            <a:r>
              <a:rPr lang="en-IN" b="1" dirty="0"/>
              <a:t>Consent-gated</a:t>
            </a:r>
            <a:r>
              <a:rPr lang="en-IN" dirty="0"/>
              <a:t> SMS alerts — user privacy is never violated Explicit disclaimer on </a:t>
            </a:r>
            <a:r>
              <a:rPr lang="en-IN" b="1" dirty="0"/>
              <a:t>every single response</a:t>
            </a:r>
            <a:r>
              <a:rPr lang="en-IN" dirty="0"/>
              <a:t> — transparency is non-negotiable Crisis resources are shown </a:t>
            </a:r>
            <a:r>
              <a:rPr lang="en-IN" b="1" dirty="0"/>
              <a:t>automatically</a:t>
            </a:r>
            <a:r>
              <a:rPr lang="en-IN" dirty="0"/>
              <a:t>, not buried in a menu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1850" dirty="0">
                <a:latin typeface="Times New Roman"/>
                <a:ea typeface="Times New Roman"/>
                <a:cs typeface="Times New Roman"/>
                <a:sym typeface="Times New Roman"/>
              </a:rPr>
              <a:t>https://github.com/roshi-ni/MindBridge-Agentic-AI-Mental-Health.git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776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IN" b="1" dirty="0"/>
              <a:t>Multilingual support</a:t>
            </a:r>
            <a:r>
              <a:rPr lang="en-IN" dirty="0"/>
              <a:t> — Hindi, Tamil, Telugu and regional languages for rural reach</a:t>
            </a:r>
          </a:p>
          <a:p>
            <a:pPr lvl="0"/>
            <a:r>
              <a:rPr lang="en-IN" b="1" dirty="0"/>
              <a:t>Voice interface</a:t>
            </a:r>
            <a:r>
              <a:rPr lang="en-IN" dirty="0"/>
              <a:t> — speech-to-text input with vocal tone distress detection</a:t>
            </a:r>
          </a:p>
          <a:p>
            <a:pPr lvl="0"/>
            <a:r>
              <a:rPr lang="en-IN" b="1" dirty="0"/>
              <a:t>Mobile app</a:t>
            </a:r>
            <a:r>
              <a:rPr lang="en-IN" dirty="0"/>
              <a:t> — React Native / Flutter with daily wellness push notifications</a:t>
            </a:r>
          </a:p>
          <a:p>
            <a:pPr lvl="0"/>
            <a:r>
              <a:rPr lang="en-IN" b="1" dirty="0"/>
              <a:t>Therapist integration</a:t>
            </a:r>
            <a:r>
              <a:rPr lang="en-IN" dirty="0"/>
              <a:t> — share session risk summaries with clinicians (consent-based)</a:t>
            </a:r>
          </a:p>
          <a:p>
            <a:pPr lvl="0"/>
            <a:r>
              <a:rPr lang="en-IN" b="1" dirty="0"/>
              <a:t>Peer support groups</a:t>
            </a:r>
            <a:r>
              <a:rPr lang="en-IN" dirty="0"/>
              <a:t> — moderated community with trained peer </a:t>
            </a:r>
            <a:r>
              <a:rPr lang="en-IN" dirty="0" err="1"/>
              <a:t>counselors</a:t>
            </a:r>
            <a:endParaRPr lang="en-IN" dirty="0"/>
          </a:p>
          <a:p>
            <a:pPr lvl="0"/>
            <a:r>
              <a:rPr lang="en-IN" b="1" dirty="0"/>
              <a:t>Fine-tuned Granite model</a:t>
            </a:r>
            <a:r>
              <a:rPr lang="en-IN" dirty="0"/>
              <a:t> — domain-specialist mental health LLM</a:t>
            </a:r>
          </a:p>
          <a:p>
            <a:pPr lvl="0"/>
            <a:r>
              <a:rPr lang="en-IN" b="1" dirty="0"/>
              <a:t>Longitudinal mood tracking</a:t>
            </a:r>
            <a:r>
              <a:rPr lang="en-IN" dirty="0"/>
              <a:t> — cross-session trend analysis and monthly wellness reports</a:t>
            </a:r>
          </a:p>
          <a:p>
            <a:pPr lvl="0"/>
            <a:r>
              <a:rPr lang="en-IN" b="1" dirty="0"/>
              <a:t>On-device / federated AI</a:t>
            </a:r>
            <a:r>
              <a:rPr lang="en-IN" dirty="0"/>
              <a:t> — privacy-preserving inference, HIPAA &amp; DPDP Act compliant</a:t>
            </a:r>
          </a:p>
          <a:p>
            <a:pPr lvl="0"/>
            <a:r>
              <a:rPr lang="en-IN" b="1" dirty="0"/>
              <a:t>Institutional deployment</a:t>
            </a:r>
            <a:r>
              <a:rPr lang="en-IN" dirty="0"/>
              <a:t> — universities, schools, corporates with aggregate dashboards</a:t>
            </a:r>
          </a:p>
          <a:p>
            <a:pPr lvl="0"/>
            <a:r>
              <a:rPr lang="en-IN" b="1" dirty="0"/>
              <a:t>NGO &amp; Government integration</a:t>
            </a:r>
            <a:r>
              <a:rPr lang="en-IN" dirty="0"/>
              <a:t> — NIMHANS, KIRAN helpline, National Mental Health Programme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763B70-D68A-E42C-2C92-20DF379215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98" b="21791"/>
          <a:stretch>
            <a:fillRect/>
          </a:stretch>
        </p:blipFill>
        <p:spPr>
          <a:xfrm>
            <a:off x="1849013" y="1289712"/>
            <a:ext cx="6189518" cy="46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62585-024F-14F0-096F-476D73CDA7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79" r="5009" b="19702"/>
          <a:stretch>
            <a:fillRect/>
          </a:stretch>
        </p:blipFill>
        <p:spPr>
          <a:xfrm>
            <a:off x="1825105" y="1090617"/>
            <a:ext cx="8438011" cy="521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1216</Words>
  <Application>Microsoft Office PowerPoint</Application>
  <PresentationFormat>Widescreen</PresentationFormat>
  <Paragraphs>135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Roshini Allada</cp:lastModifiedBy>
  <cp:revision>9</cp:revision>
  <dcterms:created xsi:type="dcterms:W3CDTF">2025-07-08T05:06:56Z</dcterms:created>
  <dcterms:modified xsi:type="dcterms:W3CDTF">2026-10-17T16:07:27Z</dcterms:modified>
</cp:coreProperties>
</file>